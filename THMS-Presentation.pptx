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12192000" cy="68580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4="http://schemas.microsoft.com/office/drawing/2007/8/2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 xml:space="preserve">Accuracy %</c:v>
                </c:pt>
              </c:strCache>
            </c:strRef>
          </c:tx>
          <c:spPr bwMode="auto">
            <a:prstGeom prst="rect">
              <a:avLst/>
            </a:prstGeom>
            <a:solidFill>
              <a:srgbClr val="94A3C4"/>
            </a:solidFill>
            <a:effectLst/>
          </c:spPr>
          <c:invertIfNegative val="0"/>
          <c:dPt>
            <c:idx val="0"/>
            <c:invertIfNegative val="0"/>
            <c:bubble3D val="0"/>
            <c:spPr bwMode="auto">
              <a:prstGeom prst="rect">
                <a:avLst/>
              </a:prstGeom>
              <a:solidFill>
                <a:srgbClr val="94A3C4"/>
              </a:solidFill>
              <a:effectLst/>
            </c:spPr>
          </c:dPt>
          <c:dPt>
            <c:idx val="1"/>
            <c:invertIfNegative val="0"/>
            <c:bubble3D val="0"/>
            <c:spPr bwMode="auto">
              <a:prstGeom prst="rect">
                <a:avLst/>
              </a:prstGeom>
              <a:solidFill>
                <a:srgbClr val="6471B3"/>
              </a:solidFill>
              <a:effectLst/>
            </c:spPr>
          </c:dPt>
          <c:dPt>
            <c:idx val="2"/>
            <c:invertIfNegative val="0"/>
            <c:bubble3D val="0"/>
            <c:spPr bwMode="auto">
              <a:prstGeom prst="rect">
                <a:avLst/>
              </a:prstGeom>
              <a:solidFill>
                <a:srgbClr val="02C39A"/>
              </a:solidFill>
              <a:effectLst/>
            </c:spPr>
          </c:dPt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Sheet1!$A$2:$A$4</c:f>
              <c:multiLvlStrCache>
                <c:ptCount val="3"/>
                <c:lvl>
                  <c:pt idx="0">
                    <c:v>ResNet-18</c:v>
                  </c:pt>
                  <c:pt idx="1">
                    <c:v>DenseNet-121</c:v>
                  </c:pt>
                  <c:pt idx="2">
                    <c:v>EfficientNet-B0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92.1</c:v>
                </c:pt>
                <c:pt idx="1">
                  <c:v>94.3</c:v>
                </c:pt>
                <c:pt idx="2">
                  <c:v>94.8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200" b="0" i="0" u="none" strike="noStrike">
                  <a:solidFill>
                    <a:srgbClr val="1E2761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6"/>
          <c:min val="88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plotVisOnly val="1"/>
    <c:dispBlanksAs val="span"/>
    <c:showDLblsOverMax val="0"/>
  </c:chart>
  <c:spPr bwMode="auto">
    <a:xfrm>
      <a:off x="4069080" y="1600200"/>
      <a:ext cx="3657600" cy="2468880"/>
    </a:xfrm>
    <a:prstGeom prst="rect">
      <a:avLst/>
    </a:prstGeom>
    <a:solidFill>
      <a:srgbClr val="FFFFFF"/>
    </a:solidFill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8961120" y="-2286000"/>
            <a:ext cx="5486400" cy="5486400"/>
          </a:xfrm>
          <a:prstGeom prst="ellipse">
            <a:avLst/>
          </a:prstGeom>
          <a:solidFill>
            <a:srgbClr val="2A3777"/>
          </a:solidFill>
          <a:ln/>
        </p:spPr>
      </p:sp>
      <p:sp>
        <p:nvSpPr>
          <p:cNvPr id="3" name="Shape 1"/>
          <p:cNvSpPr/>
          <p:nvPr/>
        </p:nvSpPr>
        <p:spPr bwMode="auto">
          <a:xfrm>
            <a:off x="-1828800" y="4114800"/>
            <a:ext cx="4572000" cy="4572000"/>
          </a:xfrm>
          <a:prstGeom prst="ellipse">
            <a:avLst/>
          </a:prstGeom>
          <a:solidFill>
            <a:srgbClr val="2A3777"/>
          </a:solidFill>
          <a:ln/>
        </p:spPr>
      </p:sp>
      <p:sp>
        <p:nvSpPr>
          <p:cNvPr id="4" name="Shape 2"/>
          <p:cNvSpPr/>
          <p:nvPr/>
        </p:nvSpPr>
        <p:spPr bwMode="auto">
          <a:xfrm>
            <a:off x="640080" y="5486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37590" y="746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SOFTWARE DESIGN DOCUMENT  •  GRADUATION PROJECT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 bwMode="auto">
          <a:xfrm>
            <a:off x="548640" y="219456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Tumor Hospital</a:t>
            </a:r>
            <a:endParaRPr lang="en-US" sz="540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Management System</a:t>
            </a:r>
            <a:endParaRPr lang="en-US" sz="5400"/>
          </a:p>
        </p:txBody>
      </p:sp>
      <p:sp>
        <p:nvSpPr>
          <p:cNvPr id="8" name="Text 5"/>
          <p:cNvSpPr/>
          <p:nvPr/>
        </p:nvSpPr>
        <p:spPr bwMode="auto">
          <a:xfrm>
            <a:off x="548640" y="42976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web-based healthcare information platform integrating hospital operations management with an AI-powered brain tumor classification.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 bwMode="auto"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ASP.NET Core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|   Entity Framework Core   |   SQL Server   |   EfficientNet-B0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 bwMode="auto"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C9BC9"/>
                </a:solidFill>
                <a:latin typeface="Calibri"/>
                <a:ea typeface="Calibri"/>
                <a:cs typeface="Calibri"/>
              </a:rPr>
              <a:t>Department of Information Systems  •  Faculty of Computing &amp; Artificial Intelligence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Problem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 bwMode="auto">
          <a:xfrm>
            <a:off x="548640" y="9601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Oncology hospitals run on fragmented, manual processes — with life-critical consequences.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 bwMode="auto">
          <a:xfrm>
            <a:off x="548640" y="182880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 bwMode="auto">
          <a:xfrm>
            <a:off x="868680" y="167335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Administrative inefficiency</a:t>
            </a:r>
            <a:b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</a:br>
            <a:endParaRPr lang="en-US" sz="1400"/>
          </a:p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Manual scheduling causes double-bookings and poor physician utilization.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 bwMode="auto">
          <a:xfrm>
            <a:off x="548640" y="290779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 bwMode="auto">
          <a:xfrm>
            <a:off x="868680" y="2752343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Clinical risk</a:t>
            </a:r>
            <a:b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</a:br>
            <a:endParaRPr lang="en-US" sz="1400"/>
          </a:p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Records in physical/digital silos; no AI-assisted diagnostic support.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 bwMode="auto">
          <a:xfrm>
            <a:off x="548640" y="3986784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 bwMode="auto">
          <a:xfrm>
            <a:off x="868680" y="3831336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Patient experience gaps</a:t>
            </a:r>
            <a:b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</a:br>
            <a:endParaRPr lang="en-US" sz="1400"/>
          </a:p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No self-service portal, no real-time status updates.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 bwMode="auto">
          <a:xfrm>
            <a:off x="548640" y="5065776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 bwMode="auto">
          <a:xfrm>
            <a:off x="868680" y="4910328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Billing inaccuracies</a:t>
            </a:r>
            <a:b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</a:br>
            <a:endParaRPr lang="en-US" sz="1400"/>
          </a:p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Manual, error-prone billing disconnected from clinical activity.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 bwMode="auto">
          <a:xfrm>
            <a:off x="6492240" y="365760"/>
            <a:ext cx="5120640" cy="6126480"/>
          </a:xfrm>
          <a:prstGeom prst="roundRect">
            <a:avLst>
              <a:gd name="adj" fmla="val 142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 bwMode="auto">
          <a:xfrm>
            <a:off x="6949440" y="6858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Solution</a:t>
            </a:r>
            <a:endParaRPr lang="en-US" sz="2600"/>
          </a:p>
        </p:txBody>
      </p:sp>
      <p:sp>
        <p:nvSpPr>
          <p:cNvPr id="14" name="Text 12"/>
          <p:cNvSpPr/>
          <p:nvPr/>
        </p:nvSpPr>
        <p:spPr bwMode="auto">
          <a:xfrm>
            <a:off x="6949440" y="13258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THMS unifies all hospital operations into a single role-governed, real-time-enabled web platform.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 bwMode="auto">
          <a:xfrm>
            <a:off x="6949440" y="2331720"/>
            <a:ext cx="411480" cy="411480"/>
          </a:xfrm>
          <a:prstGeom prst="ellipse">
            <a:avLst/>
          </a:prstGeom>
          <a:solidFill>
            <a:srgbClr val="2A3777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048195" y="2430475"/>
            <a:ext cx="213970" cy="21397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 bwMode="auto">
          <a:xfrm>
            <a:off x="7543800" y="231343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Role-Based Access Control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Four roles: Admin, Doctor, Patient, Receptionist</a:t>
            </a:r>
            <a:endParaRPr lang="en-US" sz="1300"/>
          </a:p>
        </p:txBody>
      </p:sp>
      <p:sp>
        <p:nvSpPr>
          <p:cNvPr id="18" name="Shape 15"/>
          <p:cNvSpPr/>
          <p:nvPr/>
        </p:nvSpPr>
        <p:spPr bwMode="auto">
          <a:xfrm>
            <a:off x="6949440" y="3291840"/>
            <a:ext cx="411480" cy="411480"/>
          </a:xfrm>
          <a:prstGeom prst="ellipse">
            <a:avLst/>
          </a:prstGeom>
          <a:solidFill>
            <a:srgbClr val="2A3777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048195" y="3390595"/>
            <a:ext cx="213970" cy="21397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 bwMode="auto">
          <a:xfrm>
            <a:off x="7543800" y="327355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integrated modules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Appointments, billing, </a:t>
            </a:r>
            <a:r>
              <a:rPr lang="en-US" sz="1100" b="0" i="0" u="none" strike="noStrike" cap="none" spc="0">
                <a:solidFill>
                  <a:srgbClr val="CADCFC"/>
                </a:solidFill>
                <a:latin typeface="Calibri"/>
                <a:cs typeface="Calibri"/>
              </a:rPr>
              <a:t>Diagnostic</a:t>
            </a: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, prescriptions, charity</a:t>
            </a:r>
            <a:endParaRPr lang="en-US" sz="1300"/>
          </a:p>
        </p:txBody>
      </p:sp>
      <p:sp>
        <p:nvSpPr>
          <p:cNvPr id="21" name="Shape 17"/>
          <p:cNvSpPr/>
          <p:nvPr/>
        </p:nvSpPr>
        <p:spPr bwMode="auto">
          <a:xfrm>
            <a:off x="6949440" y="4251960"/>
            <a:ext cx="411480" cy="411480"/>
          </a:xfrm>
          <a:prstGeom prst="ellipse">
            <a:avLst/>
          </a:prstGeom>
          <a:solidFill>
            <a:srgbClr val="2A3777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048195" y="4350715"/>
            <a:ext cx="213970" cy="21397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 bwMode="auto">
          <a:xfrm>
            <a:off x="7543800" y="42336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diagnostic subsystem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MRI classification + chatbot</a:t>
            </a:r>
            <a:endParaRPr lang="en-US" sz="1300"/>
          </a:p>
        </p:txBody>
      </p:sp>
      <p:sp>
        <p:nvSpPr>
          <p:cNvPr id="24" name="Shape 19"/>
          <p:cNvSpPr/>
          <p:nvPr/>
        </p:nvSpPr>
        <p:spPr bwMode="auto">
          <a:xfrm>
            <a:off x="6949440" y="5212080"/>
            <a:ext cx="411480" cy="411480"/>
          </a:xfrm>
          <a:prstGeom prst="ellipse">
            <a:avLst/>
          </a:prstGeom>
          <a:solidFill>
            <a:srgbClr val="2A3777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048195" y="5310835"/>
            <a:ext cx="213970" cy="21397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 bwMode="auto">
          <a:xfrm>
            <a:off x="7543800" y="51937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Secure by design</a:t>
            </a:r>
            <a:b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300"/>
          </a:p>
          <a:p>
            <a:pPr marL="0" indent="0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JWT auth, RBAC, audit logging, parameterized queries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bg>
      <p:bgPr shadeToTitle="0">
        <a:solidFill>
          <a:srgbClr val="F4F7F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Objectives &amp; Scope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 bwMode="auto">
          <a:xfrm>
            <a:off x="548640" y="12801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76200" dist="25400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 bwMode="auto">
          <a:xfrm>
            <a:off x="777240" y="1508759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97941" y="16294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41732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Unified Platform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 bwMode="auto">
          <a:xfrm>
            <a:off x="777240" y="21031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Secure, scalable web platform tailored to oncology operations.</a:t>
            </a:r>
            <a:endParaRPr lang="en-US" sz="1100"/>
          </a:p>
        </p:txBody>
      </p:sp>
      <p:sp>
        <p:nvSpPr>
          <p:cNvPr id="8" name="Shape 5"/>
          <p:cNvSpPr/>
          <p:nvPr/>
        </p:nvSpPr>
        <p:spPr bwMode="auto">
          <a:xfrm>
            <a:off x="4389120" y="12801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76200" dist="25400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 bwMode="auto">
          <a:xfrm>
            <a:off x="4617720" y="1508759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38421" y="16294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 bwMode="auto">
          <a:xfrm>
            <a:off x="525780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Strict RBAC</a:t>
            </a:r>
            <a:endParaRPr lang="en-US" sz="1400"/>
          </a:p>
        </p:txBody>
      </p:sp>
      <p:sp>
        <p:nvSpPr>
          <p:cNvPr id="12" name="Text 8"/>
          <p:cNvSpPr/>
          <p:nvPr/>
        </p:nvSpPr>
        <p:spPr bwMode="auto">
          <a:xfrm>
            <a:off x="4617720" y="21031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Precisely scoped access for Admins, Doctors, Patients, Receptionists.</a:t>
            </a:r>
            <a:endParaRPr lang="en-US" sz="1100"/>
          </a:p>
        </p:txBody>
      </p:sp>
      <p:sp>
        <p:nvSpPr>
          <p:cNvPr id="13" name="Shape 9"/>
          <p:cNvSpPr/>
          <p:nvPr/>
        </p:nvSpPr>
        <p:spPr bwMode="auto">
          <a:xfrm>
            <a:off x="8229600" y="12801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76200" dist="25400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 bwMode="auto">
          <a:xfrm>
            <a:off x="8458200" y="1508759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578901" y="162946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 bwMode="auto">
          <a:xfrm>
            <a:off x="9098280" y="1463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Full Appointment Lifecycle</a:t>
            </a:r>
            <a:endParaRPr lang="en-US" sz="1400"/>
          </a:p>
        </p:txBody>
      </p:sp>
      <p:sp>
        <p:nvSpPr>
          <p:cNvPr id="17" name="Text 12"/>
          <p:cNvSpPr/>
          <p:nvPr/>
        </p:nvSpPr>
        <p:spPr bwMode="auto">
          <a:xfrm>
            <a:off x="8458200" y="21031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Booking, assignment, follow-ups, and video consultation.</a:t>
            </a:r>
            <a:endParaRPr lang="en-US" sz="1100"/>
          </a:p>
        </p:txBody>
      </p:sp>
      <p:sp>
        <p:nvSpPr>
          <p:cNvPr id="18" name="Shape 13"/>
          <p:cNvSpPr/>
          <p:nvPr/>
        </p:nvSpPr>
        <p:spPr bwMode="auto">
          <a:xfrm>
            <a:off x="548640" y="31089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76200" dist="25400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 bwMode="auto">
          <a:xfrm>
            <a:off x="777240" y="33375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97941" y="345826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 bwMode="auto">
          <a:xfrm>
            <a:off x="141732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Transparent Billing</a:t>
            </a:r>
            <a:endParaRPr lang="en-US" sz="1400"/>
          </a:p>
        </p:txBody>
      </p:sp>
      <p:sp>
        <p:nvSpPr>
          <p:cNvPr id="22" name="Text 16"/>
          <p:cNvSpPr/>
          <p:nvPr/>
        </p:nvSpPr>
        <p:spPr bwMode="auto">
          <a:xfrm>
            <a:off x="777240" y="39319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Auditable billing linked to clinical activity, with offers/discounts.</a:t>
            </a:r>
            <a:endParaRPr lang="en-US" sz="1100"/>
          </a:p>
        </p:txBody>
      </p:sp>
      <p:sp>
        <p:nvSpPr>
          <p:cNvPr id="23" name="Shape 17"/>
          <p:cNvSpPr/>
          <p:nvPr/>
        </p:nvSpPr>
        <p:spPr bwMode="auto">
          <a:xfrm>
            <a:off x="4389120" y="31089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76200" dist="25400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 bwMode="auto">
          <a:xfrm>
            <a:off x="4617720" y="33375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738421" y="345826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 bwMode="auto">
          <a:xfrm>
            <a:off x="525780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Centralized Records</a:t>
            </a:r>
            <a:endParaRPr lang="en-US" sz="1400"/>
          </a:p>
        </p:txBody>
      </p:sp>
      <p:sp>
        <p:nvSpPr>
          <p:cNvPr id="27" name="Text 20"/>
          <p:cNvSpPr/>
          <p:nvPr/>
        </p:nvSpPr>
        <p:spPr bwMode="auto">
          <a:xfrm>
            <a:off x="4617720" y="39319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prescriptions, and diagnostics in one profile.</a:t>
            </a:r>
            <a:endParaRPr lang="en-US" sz="1100"/>
          </a:p>
        </p:txBody>
      </p:sp>
      <p:sp>
        <p:nvSpPr>
          <p:cNvPr id="28" name="Shape 21"/>
          <p:cNvSpPr/>
          <p:nvPr/>
        </p:nvSpPr>
        <p:spPr bwMode="auto">
          <a:xfrm>
            <a:off x="8229600" y="310896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blurRad="76200" dist="25400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 bwMode="auto">
          <a:xfrm>
            <a:off x="8458200" y="33375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8578901" y="345826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 bwMode="auto">
          <a:xfrm>
            <a:off x="909828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AI-Assisted Care</a:t>
            </a:r>
            <a:endParaRPr lang="en-US" sz="1400"/>
          </a:p>
        </p:txBody>
      </p:sp>
      <p:sp>
        <p:nvSpPr>
          <p:cNvPr id="32" name="Text 24"/>
          <p:cNvSpPr/>
          <p:nvPr/>
        </p:nvSpPr>
        <p:spPr bwMode="auto">
          <a:xfrm>
            <a:off x="8458200" y="39319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MRI classification &amp;  chatbot.</a:t>
            </a:r>
            <a:endParaRPr lang="en-US" sz="1100"/>
          </a:p>
        </p:txBody>
      </p:sp>
      <p:sp>
        <p:nvSpPr>
          <p:cNvPr id="33" name="Shape 25"/>
          <p:cNvSpPr/>
          <p:nvPr/>
        </p:nvSpPr>
        <p:spPr bwMode="auto">
          <a:xfrm>
            <a:off x="7909560" y="5074920"/>
            <a:ext cx="3703320" cy="1325880"/>
          </a:xfrm>
          <a:prstGeom prst="roundRect">
            <a:avLst>
              <a:gd name="adj" fmla="val 4828"/>
            </a:avLst>
          </a:prstGeom>
          <a:solidFill>
            <a:srgbClr val="FFF4E5"/>
          </a:solidFill>
          <a:ln/>
        </p:spPr>
      </p:sp>
      <p:sp>
        <p:nvSpPr>
          <p:cNvPr id="34" name="Shape 26"/>
          <p:cNvSpPr/>
          <p:nvPr/>
        </p:nvSpPr>
        <p:spPr bwMode="auto">
          <a:xfrm>
            <a:off x="8138160" y="5257800"/>
            <a:ext cx="411480" cy="411480"/>
          </a:xfrm>
          <a:prstGeom prst="ellipse">
            <a:avLst/>
          </a:prstGeom>
          <a:solidFill>
            <a:srgbClr val="FFE4BC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8236915" y="5356555"/>
            <a:ext cx="213970" cy="21397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 bwMode="auto">
          <a:xfrm>
            <a:off x="868680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Out of Scope (Phase 1)</a:t>
            </a:r>
            <a:endParaRPr lang="en-US" sz="1200"/>
          </a:p>
        </p:txBody>
      </p:sp>
      <p:sp>
        <p:nvSpPr>
          <p:cNvPr id="37" name="Text 28"/>
          <p:cNvSpPr/>
          <p:nvPr/>
        </p:nvSpPr>
        <p:spPr bwMode="auto">
          <a:xfrm>
            <a:off x="8138160" y="55778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Native mobile apps, EHR exchange, pharmacy/lab integration, insurance claims, on-platform ML training.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Four Roles, One Platform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 bwMode="auto"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Each role operates within a precisely defined access boundary enforced by Role-Based Access Control (RBAC).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 bwMode="auto">
          <a:xfrm>
            <a:off x="548640" y="169164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F4F7FE"/>
          </a:solidFill>
          <a:ln/>
        </p:spPr>
      </p:sp>
      <p:sp>
        <p:nvSpPr>
          <p:cNvPr id="5" name="Shape 3"/>
          <p:cNvSpPr/>
          <p:nvPr/>
        </p:nvSpPr>
        <p:spPr bwMode="auto">
          <a:xfrm>
            <a:off x="1508759" y="20116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695298" y="21982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 bwMode="auto">
          <a:xfrm>
            <a:off x="731520" y="2971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Administrator</a:t>
            </a:r>
            <a:endParaRPr lang="en-US" sz="1700"/>
          </a:p>
        </p:txBody>
      </p:sp>
      <p:sp>
        <p:nvSpPr>
          <p:cNvPr id="8" name="Text 5"/>
          <p:cNvSpPr/>
          <p:nvPr/>
        </p:nvSpPr>
        <p:spPr bwMode="auto">
          <a:xfrm>
            <a:off x="777240" y="347472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Highest privilege. Manages all user accounts, system configuration, FAQs, charity programs, and hospital info.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 bwMode="auto">
          <a:xfrm>
            <a:off x="3456432" y="169164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F4F7FE"/>
          </a:solidFill>
          <a:ln/>
        </p:spPr>
      </p:sp>
      <p:sp>
        <p:nvSpPr>
          <p:cNvPr id="10" name="Shape 7"/>
          <p:cNvSpPr/>
          <p:nvPr/>
        </p:nvSpPr>
        <p:spPr bwMode="auto">
          <a:xfrm>
            <a:off x="4416552" y="20116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03090" y="21982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 bwMode="auto">
          <a:xfrm>
            <a:off x="3639312" y="2971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Doctor</a:t>
            </a:r>
            <a:endParaRPr lang="en-US" sz="1700"/>
          </a:p>
        </p:txBody>
      </p:sp>
      <p:sp>
        <p:nvSpPr>
          <p:cNvPr id="13" name="Text 9"/>
          <p:cNvSpPr/>
          <p:nvPr/>
        </p:nvSpPr>
        <p:spPr bwMode="auto">
          <a:xfrm>
            <a:off x="3685032" y="347472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Reviews patient records diagnoses, writes prescriptions, conducts video consultations.</a:t>
            </a:r>
            <a:endParaRPr lang="en-US" sz="1150"/>
          </a:p>
        </p:txBody>
      </p:sp>
      <p:sp>
        <p:nvSpPr>
          <p:cNvPr id="14" name="Shape 10"/>
          <p:cNvSpPr/>
          <p:nvPr/>
        </p:nvSpPr>
        <p:spPr bwMode="auto">
          <a:xfrm>
            <a:off x="6364224" y="169164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F4F7FE"/>
          </a:solidFill>
          <a:ln/>
        </p:spPr>
      </p:sp>
      <p:sp>
        <p:nvSpPr>
          <p:cNvPr id="15" name="Shape 11"/>
          <p:cNvSpPr/>
          <p:nvPr/>
        </p:nvSpPr>
        <p:spPr bwMode="auto">
          <a:xfrm>
            <a:off x="7324344" y="20116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510882" y="21982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 bwMode="auto">
          <a:xfrm>
            <a:off x="6547104" y="2971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Patient</a:t>
            </a:r>
            <a:endParaRPr lang="en-US" sz="1700"/>
          </a:p>
        </p:txBody>
      </p:sp>
      <p:sp>
        <p:nvSpPr>
          <p:cNvPr id="18" name="Text 13"/>
          <p:cNvSpPr/>
          <p:nvPr/>
        </p:nvSpPr>
        <p:spPr bwMode="auto">
          <a:xfrm>
            <a:off x="6592823" y="347472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Self-schedules appointments, upload own records &amp; bills, joins video consultations, participates in charity donations.</a:t>
            </a:r>
            <a:endParaRPr lang="en-US" sz="1150"/>
          </a:p>
        </p:txBody>
      </p:sp>
      <p:sp>
        <p:nvSpPr>
          <p:cNvPr id="19" name="Shape 14"/>
          <p:cNvSpPr/>
          <p:nvPr/>
        </p:nvSpPr>
        <p:spPr bwMode="auto">
          <a:xfrm>
            <a:off x="9272016" y="1691640"/>
            <a:ext cx="2697480" cy="4572000"/>
          </a:xfrm>
          <a:prstGeom prst="roundRect">
            <a:avLst>
              <a:gd name="adj" fmla="val 2712"/>
            </a:avLst>
          </a:prstGeom>
          <a:solidFill>
            <a:srgbClr val="F4F7FE"/>
          </a:solidFill>
          <a:ln/>
        </p:spPr>
      </p:sp>
      <p:sp>
        <p:nvSpPr>
          <p:cNvPr id="20" name="Shape 15"/>
          <p:cNvSpPr/>
          <p:nvPr/>
        </p:nvSpPr>
        <p:spPr bwMode="auto">
          <a:xfrm>
            <a:off x="10232136" y="20116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418674" y="21982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 bwMode="auto">
          <a:xfrm>
            <a:off x="9454896" y="29718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Receptionist</a:t>
            </a:r>
            <a:endParaRPr lang="en-US" sz="1700"/>
          </a:p>
        </p:txBody>
      </p:sp>
      <p:sp>
        <p:nvSpPr>
          <p:cNvPr id="23" name="Text 17"/>
          <p:cNvSpPr/>
          <p:nvPr/>
        </p:nvSpPr>
        <p:spPr bwMode="auto">
          <a:xfrm>
            <a:off x="9500616" y="3474720"/>
            <a:ext cx="2240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Processes bookings, confirms billing &amp; payments, manages check-ins.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System Architecture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 bwMode="auto"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Clean (Onion) Architecture with a layered N-Tier pattern — dependencies always point inward.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 bwMode="auto">
          <a:xfrm>
            <a:off x="548640" y="1691640"/>
            <a:ext cx="10058400" cy="1078992"/>
          </a:xfrm>
          <a:prstGeom prst="roundRect">
            <a:avLst>
              <a:gd name="adj" fmla="val 5085"/>
            </a:avLst>
          </a:prstGeom>
          <a:solidFill>
            <a:srgbClr val="3D4A8A"/>
          </a:solidFill>
          <a:ln/>
        </p:spPr>
      </p:sp>
      <p:sp>
        <p:nvSpPr>
          <p:cNvPr id="5" name="Text 3"/>
          <p:cNvSpPr/>
          <p:nvPr/>
        </p:nvSpPr>
        <p:spPr bwMode="auto">
          <a:xfrm>
            <a:off x="822960" y="1801367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Presentation Layer (API)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 bwMode="auto">
          <a:xfrm>
            <a:off x="822960" y="216712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ASP.NET Core Web API — controllers, routing, auth middleware, rate limiting, RESTful endpoints.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 bwMode="auto">
          <a:xfrm>
            <a:off x="1280160" y="2916936"/>
            <a:ext cx="8595360" cy="1078992"/>
          </a:xfrm>
          <a:prstGeom prst="roundRect">
            <a:avLst>
              <a:gd name="adj" fmla="val 5085"/>
            </a:avLst>
          </a:prstGeom>
          <a:solidFill>
            <a:srgbClr val="4F5C9E"/>
          </a:solidFill>
          <a:ln/>
        </p:spPr>
      </p:sp>
      <p:sp>
        <p:nvSpPr>
          <p:cNvPr id="8" name="Text 6"/>
          <p:cNvSpPr/>
          <p:nvPr/>
        </p:nvSpPr>
        <p:spPr bwMode="auto">
          <a:xfrm>
            <a:off x="1554480" y="30266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 Layer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 bwMode="auto">
          <a:xfrm>
            <a:off x="1554480" y="33924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DTOs, FluentValidation validators, infrastructure interfaces. No EF Core / SQL dependency.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 bwMode="auto">
          <a:xfrm>
            <a:off x="2011680" y="4142232"/>
            <a:ext cx="7132320" cy="1078992"/>
          </a:xfrm>
          <a:prstGeom prst="roundRect">
            <a:avLst>
              <a:gd name="adj" fmla="val 5085"/>
            </a:avLst>
          </a:prstGeom>
          <a:solidFill>
            <a:srgbClr val="6471B3"/>
          </a:solidFill>
          <a:ln/>
        </p:spPr>
      </p:sp>
      <p:sp>
        <p:nvSpPr>
          <p:cNvPr id="11" name="Text 9"/>
          <p:cNvSpPr/>
          <p:nvPr/>
        </p:nvSpPr>
        <p:spPr bwMode="auto">
          <a:xfrm>
            <a:off x="2286000" y="42519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Domain Layer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 bwMode="auto">
          <a:xfrm>
            <a:off x="228600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Core business entities, domain events, business rules, enumerations. Zero external dependencies.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 bwMode="auto">
          <a:xfrm>
            <a:off x="1280160" y="5367528"/>
            <a:ext cx="8595360" cy="1078992"/>
          </a:xfrm>
          <a:prstGeom prst="roundRect">
            <a:avLst>
              <a:gd name="adj" fmla="val 5085"/>
            </a:avLst>
          </a:prstGeom>
          <a:solidFill>
            <a:srgbClr val="4F5C9E"/>
          </a:solidFill>
          <a:ln/>
        </p:spPr>
      </p:sp>
      <p:sp>
        <p:nvSpPr>
          <p:cNvPr id="14" name="Text 12"/>
          <p:cNvSpPr/>
          <p:nvPr/>
        </p:nvSpPr>
        <p:spPr bwMode="auto">
          <a:xfrm>
            <a:off x="1554480" y="5477255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Infrastructure Layer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 bwMode="auto">
          <a:xfrm>
            <a:off x="1554480" y="584301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Services, EF Core DbContext, repositories, SQL migrations, file storage, JWT &amp; email services.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 bwMode="auto">
          <a:xfrm>
            <a:off x="10927079" y="1691640"/>
            <a:ext cx="0" cy="0"/>
          </a:xfrm>
          <a:prstGeom prst="roundRect">
            <a:avLst>
              <a:gd name="adj" fmla="val 16667"/>
            </a:avLst>
          </a:prstGeom>
          <a:noFill/>
          <a:ln/>
        </p:spPr>
      </p:sp>
      <p:sp>
        <p:nvSpPr>
          <p:cNvPr id="17" name="Text 15"/>
          <p:cNvSpPr/>
          <p:nvPr/>
        </p:nvSpPr>
        <p:spPr bwMode="auto">
          <a:xfrm>
            <a:off x="563880" y="6527419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Clean </a:t>
            </a:r>
            <a:r>
              <a:rPr lang="en-US" sz="1200" b="0" i="1" u="none" strike="noStrike" cap="none" spc="0">
                <a:solidFill>
                  <a:srgbClr val="02C39A"/>
                </a:solidFill>
                <a:latin typeface="Calibri"/>
                <a:cs typeface="Calibri"/>
              </a:rPr>
              <a:t>architecture</a:t>
            </a:r>
            <a:r>
              <a:rPr lang="en-US" sz="1200" i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 3-Tier Deployment:  Client (Browser) → IIS / ASP.NET Core API → SQL Server + File Storage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Database Design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 bwMode="auto"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Microsoft SQL Server 2022 with EF Core 8 Code-First migrations — database: TumorHospitalDB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 bwMode="auto">
          <a:xfrm>
            <a:off x="548640" y="1600200"/>
            <a:ext cx="5486400" cy="4572000"/>
          </a:xfrm>
          <a:prstGeom prst="roundRect">
            <a:avLst>
              <a:gd name="adj" fmla="val 1400"/>
            </a:avLst>
          </a:prstGeom>
          <a:solidFill>
            <a:srgbClr val="F4F7FE"/>
          </a:solidFill>
          <a:ln/>
        </p:spPr>
      </p:sp>
      <p:sp>
        <p:nvSpPr>
          <p:cNvPr id="5" name="Shape 3"/>
          <p:cNvSpPr/>
          <p:nvPr/>
        </p:nvSpPr>
        <p:spPr bwMode="auto">
          <a:xfrm>
            <a:off x="82296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3268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 bwMode="auto">
          <a:xfrm>
            <a:off x="141732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Core Entities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 bwMode="auto">
          <a:xfrm>
            <a:off x="822960" y="242316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ApplicationUser, Doctor, Patient, Receptionist, Admin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Appointment, DoctorSchedule, DoctorSpecialization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Bill, Offer, Prescription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AI Diagnostic results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CharityNeed, VolunteerDonation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AuditLog, RefreshToken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 bwMode="auto">
          <a:xfrm>
            <a:off x="6263640" y="1600200"/>
            <a:ext cx="5394960" cy="4572000"/>
          </a:xfrm>
          <a:prstGeom prst="roundRect">
            <a:avLst>
              <a:gd name="adj" fmla="val 14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 bwMode="auto"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Key Relationships (Crow's Foot)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 bwMode="auto">
          <a:xfrm>
            <a:off x="6583680" y="233172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ApplicationUser  1—1  Doctor / Patient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Doctor  1—N  Appointment, DoctorSchedule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Patient  1—N  Appointment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Appointment  1—1  Bill,  1—0/1  Prescription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Offer  1—N  Bill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CharityNeed  1—N  VolunteerDonation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Security Design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 bwMode="auto"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Defense-in-depth: security is embedded at every architectural layer.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 bwMode="auto">
          <a:xfrm>
            <a:off x="548640" y="16916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4F7FE"/>
          </a:solidFill>
          <a:ln/>
          <a:effectLst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 bwMode="auto">
          <a:xfrm>
            <a:off x="77724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869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 bwMode="auto">
          <a:xfrm>
            <a:off x="1417320" y="1938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Dual-Token Auth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 bwMode="auto">
          <a:xfrm>
            <a:off x="77724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Short-lived JWT (15 min) + HttpOnly Secure refresh token (7 days) with rotation.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 bwMode="auto">
          <a:xfrm>
            <a:off x="4389120" y="16916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4F7FE"/>
          </a:solidFill>
          <a:ln/>
          <a:effectLst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 bwMode="auto">
          <a:xfrm>
            <a:off x="461772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27448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 bwMode="auto">
          <a:xfrm>
            <a:off x="5257800" y="1938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Input Validation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 bwMode="auto">
          <a:xfrm>
            <a:off x="461772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FluentValidation pipeline; XSS sanitization; 400 responses with field-level errors.</a:t>
            </a:r>
            <a:endParaRPr lang="en-US" sz="1150"/>
          </a:p>
        </p:txBody>
      </p:sp>
      <p:sp>
        <p:nvSpPr>
          <p:cNvPr id="14" name="Shape 10"/>
          <p:cNvSpPr/>
          <p:nvPr/>
        </p:nvSpPr>
        <p:spPr bwMode="auto">
          <a:xfrm>
            <a:off x="8229600" y="16916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4F7FE"/>
          </a:solidFill>
          <a:ln/>
          <a:effectLst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 bwMode="auto">
          <a:xfrm>
            <a:off x="845820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567928" y="20299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 bwMode="auto">
          <a:xfrm>
            <a:off x="9098280" y="1938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SQL Injection Prevention</a:t>
            </a:r>
            <a:endParaRPr lang="en-US" sz="1400"/>
          </a:p>
        </p:txBody>
      </p:sp>
      <p:sp>
        <p:nvSpPr>
          <p:cNvPr id="18" name="Text 13"/>
          <p:cNvSpPr/>
          <p:nvPr/>
        </p:nvSpPr>
        <p:spPr bwMode="auto">
          <a:xfrm>
            <a:off x="8458200" y="25603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EF Core parameterized LINQ queries; no string interpolation in SQL.</a:t>
            </a:r>
            <a:endParaRPr lang="en-US" sz="1150"/>
          </a:p>
        </p:txBody>
      </p:sp>
      <p:sp>
        <p:nvSpPr>
          <p:cNvPr id="19" name="Shape 14"/>
          <p:cNvSpPr/>
          <p:nvPr/>
        </p:nvSpPr>
        <p:spPr bwMode="auto">
          <a:xfrm>
            <a:off x="548640" y="40233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4F7FE"/>
          </a:solidFill>
          <a:ln/>
          <a:effectLst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 bwMode="auto">
          <a:xfrm>
            <a:off x="777240" y="4251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86968" y="43616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 bwMode="auto">
          <a:xfrm>
            <a:off x="1417320" y="42702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Strict CORS</a:t>
            </a:r>
            <a:endParaRPr lang="en-US" sz="1400"/>
          </a:p>
        </p:txBody>
      </p:sp>
      <p:sp>
        <p:nvSpPr>
          <p:cNvPr id="23" name="Text 17"/>
          <p:cNvSpPr/>
          <p:nvPr/>
        </p:nvSpPr>
        <p:spPr bwMode="auto">
          <a:xfrm>
            <a:off x="777240" y="4892039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Explicit allowlist of trusted origins; wildcard origins prohibited in production.</a:t>
            </a:r>
            <a:endParaRPr lang="en-US" sz="1150"/>
          </a:p>
        </p:txBody>
      </p:sp>
      <p:sp>
        <p:nvSpPr>
          <p:cNvPr id="24" name="Shape 18"/>
          <p:cNvSpPr/>
          <p:nvPr/>
        </p:nvSpPr>
        <p:spPr bwMode="auto">
          <a:xfrm>
            <a:off x="4389120" y="40233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4F7FE"/>
          </a:solidFill>
          <a:ln/>
          <a:effectLst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 bwMode="auto">
          <a:xfrm>
            <a:off x="4617720" y="4251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727448" y="436168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 bwMode="auto">
          <a:xfrm>
            <a:off x="5257800" y="42702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Rate Limiting</a:t>
            </a:r>
            <a:endParaRPr lang="en-US" sz="1400"/>
          </a:p>
        </p:txBody>
      </p:sp>
      <p:sp>
        <p:nvSpPr>
          <p:cNvPr id="28" name="Text 21"/>
          <p:cNvSpPr/>
          <p:nvPr/>
        </p:nvSpPr>
        <p:spPr bwMode="auto">
          <a:xfrm>
            <a:off x="4617720" y="4892039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10 req/min on auth endpoints; 300 req/min global per authenticated user.</a:t>
            </a:r>
            <a:endParaRPr lang="en-US" sz="1150"/>
          </a:p>
        </p:txBody>
      </p:sp>
      <p:sp>
        <p:nvSpPr>
          <p:cNvPr id="29" name="Shape 22"/>
          <p:cNvSpPr/>
          <p:nvPr/>
        </p:nvSpPr>
        <p:spPr bwMode="auto">
          <a:xfrm>
            <a:off x="8229600" y="402336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4F7FE"/>
          </a:solidFill>
          <a:ln/>
          <a:effectLst>
            <a:outerShdw blurRad="76200" dist="25400" dir="2700000" sx="100000" sy="100000" kx="0" ky="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 bwMode="auto">
          <a:xfrm>
            <a:off x="8458200" y="42519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8567928" y="436168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 bwMode="auto">
          <a:xfrm>
            <a:off x="9098280" y="42702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Audit Logging</a:t>
            </a:r>
            <a:endParaRPr lang="en-US" sz="1400"/>
          </a:p>
        </p:txBody>
      </p:sp>
      <p:sp>
        <p:nvSpPr>
          <p:cNvPr id="33" name="Text 25"/>
          <p:cNvSpPr/>
          <p:nvPr/>
        </p:nvSpPr>
        <p:spPr bwMode="auto">
          <a:xfrm>
            <a:off x="8458200" y="4892039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AuditLog table records logins, token refreshes, role changes, payments, uploads.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9601200" y="-1828800"/>
            <a:ext cx="5486400" cy="5486400"/>
          </a:xfrm>
          <a:prstGeom prst="ellipse">
            <a:avLst/>
          </a:prstGeom>
          <a:solidFill>
            <a:srgbClr val="2A3777"/>
          </a:solidFill>
          <a:ln/>
        </p:spPr>
      </p:sp>
      <p:sp>
        <p:nvSpPr>
          <p:cNvPr id="3" name="Text 1"/>
          <p:cNvSpPr/>
          <p:nvPr/>
        </p:nvSpPr>
        <p:spPr bwMode="auto"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 &amp; Machine Learning Module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 bwMode="auto"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Two independently deployable microservices extend THMS into AI-assisted clinical education.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 bwMode="auto">
          <a:xfrm>
            <a:off x="548640" y="169164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 bwMode="auto">
          <a:xfrm>
            <a:off x="868680" y="19659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00354" y="20976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 bwMode="auto">
          <a:xfrm>
            <a:off x="1600200" y="18745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Brain Tumor MRI</a:t>
            </a:r>
            <a:endParaRPr lang="en-US" sz="1700"/>
          </a:p>
          <a:p>
            <a:pPr marL="0" indent="0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Classification Service</a:t>
            </a:r>
            <a:endParaRPr lang="en-US" sz="1700"/>
          </a:p>
        </p:txBody>
      </p:sp>
      <p:sp>
        <p:nvSpPr>
          <p:cNvPr id="9" name="Text 6"/>
          <p:cNvSpPr/>
          <p:nvPr/>
        </p:nvSpPr>
        <p:spPr bwMode="auto">
          <a:xfrm>
            <a:off x="868680" y="28346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94.8% accuracy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on 1,600-image held-out test set (1,516 / 1,600 correct), across 4 classes: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 i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glioma, meningioma, pituitary, notumor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 bwMode="auto">
          <a:xfrm>
            <a:off x="868680" y="4160519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Backbone: EfficientNet-B0 (5.3M params), fine-tuned end-to-end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Trained on 7,200 balanced MRI images, 224×224 input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99.3% recall on notumor — minimizes most harmful error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Exposed via HTTP API (POST /predict)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 bwMode="auto">
          <a:xfrm>
            <a:off x="6199632" y="169164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 bwMode="auto">
          <a:xfrm>
            <a:off x="6519672" y="19659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651346" y="20976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 bwMode="auto">
          <a:xfrm>
            <a:off x="7251192" y="18745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Brain Tumor </a:t>
            </a:r>
            <a:r>
              <a:rPr lang="en-US" sz="17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Chatbot Service</a:t>
            </a:r>
            <a:endParaRPr lang="en-US" sz="1700"/>
          </a:p>
        </p:txBody>
      </p:sp>
      <p:sp>
        <p:nvSpPr>
          <p:cNvPr id="15" name="Text 11"/>
          <p:cNvSpPr/>
          <p:nvPr/>
        </p:nvSpPr>
        <p:spPr bwMode="auto">
          <a:xfrm>
            <a:off x="6519672" y="2834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FastAPI service </a:t>
            </a: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powered by Gemini LLM, grounded in a 38-page vetted medical corpus.</a:t>
            </a:r>
            <a:endParaRPr lang="en-US" sz="1300"/>
          </a:p>
        </p:txBody>
      </p:sp>
      <p:sp>
        <p:nvSpPr>
          <p:cNvPr id="16" name="Text 12"/>
          <p:cNvSpPr/>
          <p:nvPr/>
        </p:nvSpPr>
        <p:spPr bwMode="auto">
          <a:xfrm>
            <a:off x="6519672" y="361188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POST /chat — Q&amp;A grounded in corpus, no ML model call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Multi-layer safety: crisis pre-check, post-LLM regex backstop, disclaimers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Never diagnoses, prescribes, or shows numeric confidence to users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MRI Classifier: Results &amp; Findings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 bwMode="auto">
          <a:xfrm>
            <a:off x="548640" y="1188720"/>
            <a:ext cx="3291840" cy="50292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 bwMode="auto">
          <a:xfrm>
            <a:off x="548640" y="17373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94.8%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 bwMode="auto">
          <a:xfrm>
            <a:off x="54864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Overall Accuracy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 bwMode="auto">
          <a:xfrm>
            <a:off x="685800" y="3383280"/>
            <a:ext cx="301751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1,516 / 1,600 correctly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classified on the held-out</a:t>
            </a:r>
            <a:endParaRPr lang="en-US" sz="1200"/>
          </a:p>
          <a:p>
            <a:pPr marL="0" indent="0" algn="ctr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test set (84 errors)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 bwMode="auto">
          <a:xfrm>
            <a:off x="914400" y="4480560"/>
            <a:ext cx="2377440" cy="0"/>
          </a:xfrm>
          <a:prstGeom prst="line">
            <a:avLst/>
          </a:prstGeom>
          <a:noFill/>
          <a:ln w="12700">
            <a:solidFill>
              <a:srgbClr val="4F5C9E"/>
            </a:solidFill>
            <a:prstDash val="solid"/>
          </a:ln>
        </p:spPr>
      </p:sp>
      <p:sp>
        <p:nvSpPr>
          <p:cNvPr id="8" name="Text 6"/>
          <p:cNvSpPr/>
          <p:nvPr/>
        </p:nvSpPr>
        <p:spPr bwMode="auto">
          <a:xfrm>
            <a:off x="548640" y="4617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99.3%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 bwMode="auto">
          <a:xfrm>
            <a:off x="685800" y="5349240"/>
            <a:ext cx="301751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Recall on 'notumor' class — the most</a:t>
            </a:r>
            <a:endParaRPr lang="en-US" sz="1150"/>
          </a:p>
          <a:p>
            <a:pPr marL="0" indent="0" algn="ctr">
              <a:buNone/>
              <a:defRPr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clinically critical metric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 bwMode="auto">
          <a:xfrm>
            <a:off x="4069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Backbone Comparison</a:t>
            </a:r>
            <a:endParaRPr lang="en-US" sz="1600"/>
          </a:p>
        </p:txBody>
      </p:sp>
      <p:graphicFrame>
        <p:nvGraphicFramePr>
          <p:cNvPr id="11" name="Chart 0" descr=""/>
          <p:cNvGraphicFramePr>
            <a:graphicFrameLocks xmlns:a="http://schemas.openxmlformats.org/drawingml/2006/main"/>
          </p:cNvGraphicFramePr>
          <p:nvPr/>
        </p:nvGraphicFramePr>
        <p:xfrm>
          <a:off x="4069080" y="1600200"/>
          <a:ext cx="36576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9"/>
          <p:cNvSpPr/>
          <p:nvPr/>
        </p:nvSpPr>
        <p:spPr bwMode="auto">
          <a:xfrm>
            <a:off x="4069080" y="4160519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EfficientNet-B0: highest accuracy with ~2.7× fewer parameters than ResNet-18 (5.3M).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 bwMode="auto">
          <a:xfrm>
            <a:off x="80010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Key Findings</a:t>
            </a:r>
            <a:endParaRPr lang="en-US" sz="1600"/>
          </a:p>
        </p:txBody>
      </p:sp>
      <p:sp>
        <p:nvSpPr>
          <p:cNvPr id="14" name="Shape 11"/>
          <p:cNvSpPr/>
          <p:nvPr/>
        </p:nvSpPr>
        <p:spPr bwMode="auto">
          <a:xfrm>
            <a:off x="8001000" y="164592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4F7FE"/>
          </a:solidFill>
          <a:ln/>
        </p:spPr>
      </p:sp>
      <p:sp>
        <p:nvSpPr>
          <p:cNvPr id="15" name="Text 12"/>
          <p:cNvSpPr/>
          <p:nvPr/>
        </p:nvSpPr>
        <p:spPr bwMode="auto">
          <a:xfrm>
            <a:off x="8183880" y="17556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Safety-first error profile</a:t>
            </a:r>
            <a:endParaRPr lang="en-US" sz="1250"/>
          </a:p>
        </p:txBody>
      </p:sp>
      <p:sp>
        <p:nvSpPr>
          <p:cNvPr id="16" name="Text 13"/>
          <p:cNvSpPr/>
          <p:nvPr/>
        </p:nvSpPr>
        <p:spPr bwMode="auto">
          <a:xfrm>
            <a:off x="8183880" y="21488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99.3% recall on notumor minimizes the most harmful false negatives.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 bwMode="auto">
          <a:xfrm>
            <a:off x="8001000" y="324612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4F7FE"/>
          </a:solidFill>
          <a:ln/>
        </p:spPr>
      </p:sp>
      <p:sp>
        <p:nvSpPr>
          <p:cNvPr id="18" name="Text 15"/>
          <p:cNvSpPr/>
          <p:nvPr/>
        </p:nvSpPr>
        <p:spPr bwMode="auto">
          <a:xfrm>
            <a:off x="8183880" y="33558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Glioma↔Meningioma confusion</a:t>
            </a:r>
            <a:endParaRPr lang="en-US" sz="1250"/>
          </a:p>
        </p:txBody>
      </p:sp>
      <p:sp>
        <p:nvSpPr>
          <p:cNvPr id="19" name="Text 16"/>
          <p:cNvSpPr/>
          <p:nvPr/>
        </p:nvSpPr>
        <p:spPr bwMode="auto">
          <a:xfrm>
            <a:off x="8183880" y="3749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Most of the 84 errors reflect genuine visual similarity, mirroring real radiologist difficulty.</a:t>
            </a:r>
            <a:endParaRPr lang="en-US" sz="1050"/>
          </a:p>
        </p:txBody>
      </p:sp>
      <p:sp>
        <p:nvSpPr>
          <p:cNvPr id="20" name="Shape 17"/>
          <p:cNvSpPr/>
          <p:nvPr/>
        </p:nvSpPr>
        <p:spPr bwMode="auto">
          <a:xfrm>
            <a:off x="8001000" y="4846320"/>
            <a:ext cx="3611880" cy="1463040"/>
          </a:xfrm>
          <a:prstGeom prst="roundRect">
            <a:avLst>
              <a:gd name="adj" fmla="val 3750"/>
            </a:avLst>
          </a:prstGeom>
          <a:solidFill>
            <a:srgbClr val="F4F7FE"/>
          </a:solidFill>
          <a:ln/>
        </p:spPr>
      </p:sp>
      <p:sp>
        <p:nvSpPr>
          <p:cNvPr id="21" name="Text 18"/>
          <p:cNvSpPr/>
          <p:nvPr/>
        </p:nvSpPr>
        <p:spPr bwMode="auto">
          <a:xfrm>
            <a:off x="8183880" y="49560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Overconfidence on errors</a:t>
            </a:r>
            <a:endParaRPr lang="en-US" sz="1250"/>
          </a:p>
        </p:txBody>
      </p:sp>
      <p:sp>
        <p:nvSpPr>
          <p:cNvPr id="22" name="Text 19"/>
          <p:cNvSpPr/>
          <p:nvPr/>
        </p:nvSpPr>
        <p:spPr bwMode="auto">
          <a:xfrm>
            <a:off x="8183880" y="5349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Cross-entropy loss yields sharp, miscalibrated probabilities — confidence is never shown to users.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Chatbot Safety Architecture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 bwMode="auto"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Every request follows a fixed, ordered pipeline — safety invariants enforced regardless of LLM behavior.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 bwMode="auto">
          <a:xfrm>
            <a:off x="548640" y="16916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 bwMode="auto">
          <a:xfrm>
            <a:off x="548640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Crisis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Pre-Check</a:t>
            </a:r>
            <a:endParaRPr lang="en-US" sz="1250"/>
          </a:p>
        </p:txBody>
      </p:sp>
      <p:sp>
        <p:nvSpPr>
          <p:cNvPr id="6" name="Shape 4"/>
          <p:cNvSpPr/>
          <p:nvPr/>
        </p:nvSpPr>
        <p:spPr bwMode="auto">
          <a:xfrm>
            <a:off x="2240280" y="2212848"/>
            <a:ext cx="246888" cy="0"/>
          </a:xfrm>
          <a:prstGeom prst="line">
            <a:avLst/>
          </a:prstGeom>
          <a:noFill/>
          <a:ln w="25400">
            <a:solidFill>
              <a:srgbClr val="94A3C4"/>
            </a:solidFill>
            <a:prstDash val="solid"/>
          </a:ln>
        </p:spPr>
      </p:sp>
      <p:sp>
        <p:nvSpPr>
          <p:cNvPr id="7" name="Shape 5"/>
          <p:cNvSpPr/>
          <p:nvPr/>
        </p:nvSpPr>
        <p:spPr bwMode="auto">
          <a:xfrm>
            <a:off x="2487168" y="16916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 bwMode="auto">
          <a:xfrm>
            <a:off x="2487168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Corpus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Retrieval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 bwMode="auto">
          <a:xfrm>
            <a:off x="4178808" y="2212848"/>
            <a:ext cx="246888" cy="0"/>
          </a:xfrm>
          <a:prstGeom prst="line">
            <a:avLst/>
          </a:prstGeom>
          <a:noFill/>
          <a:ln w="25400">
            <a:solidFill>
              <a:srgbClr val="94A3C4"/>
            </a:solidFill>
            <a:prstDash val="solid"/>
          </a:ln>
        </p:spPr>
      </p:sp>
      <p:sp>
        <p:nvSpPr>
          <p:cNvPr id="10" name="Shape 8"/>
          <p:cNvSpPr/>
          <p:nvPr/>
        </p:nvSpPr>
        <p:spPr bwMode="auto">
          <a:xfrm>
            <a:off x="4425696" y="16916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 bwMode="auto">
          <a:xfrm>
            <a:off x="4425696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Prompt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Assembly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 bwMode="auto">
          <a:xfrm>
            <a:off x="6117336" y="2212848"/>
            <a:ext cx="246888" cy="0"/>
          </a:xfrm>
          <a:prstGeom prst="line">
            <a:avLst/>
          </a:prstGeom>
          <a:noFill/>
          <a:ln w="25400">
            <a:solidFill>
              <a:srgbClr val="94A3C4"/>
            </a:solidFill>
            <a:prstDash val="solid"/>
          </a:ln>
        </p:spPr>
      </p:sp>
      <p:sp>
        <p:nvSpPr>
          <p:cNvPr id="13" name="Shape 11"/>
          <p:cNvSpPr/>
          <p:nvPr/>
        </p:nvSpPr>
        <p:spPr bwMode="auto">
          <a:xfrm>
            <a:off x="6364224" y="16916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 bwMode="auto">
          <a:xfrm>
            <a:off x="6364224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Gemini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Call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 bwMode="auto">
          <a:xfrm>
            <a:off x="8055864" y="2212848"/>
            <a:ext cx="246888" cy="0"/>
          </a:xfrm>
          <a:prstGeom prst="line">
            <a:avLst/>
          </a:prstGeom>
          <a:noFill/>
          <a:ln w="25400">
            <a:solidFill>
              <a:srgbClr val="94A3C4"/>
            </a:solidFill>
            <a:prstDash val="solid"/>
          </a:ln>
        </p:spPr>
      </p:sp>
      <p:sp>
        <p:nvSpPr>
          <p:cNvPr id="16" name="Shape 14"/>
          <p:cNvSpPr/>
          <p:nvPr/>
        </p:nvSpPr>
        <p:spPr bwMode="auto">
          <a:xfrm>
            <a:off x="8302752" y="16916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 bwMode="auto">
          <a:xfrm>
            <a:off x="8302752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Post-LLM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Regex Scan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 bwMode="auto">
          <a:xfrm>
            <a:off x="9994392" y="2212848"/>
            <a:ext cx="246888" cy="0"/>
          </a:xfrm>
          <a:prstGeom prst="line">
            <a:avLst/>
          </a:prstGeom>
          <a:noFill/>
          <a:ln w="25400">
            <a:solidFill>
              <a:srgbClr val="94A3C4"/>
            </a:solidFill>
            <a:prstDash val="solid"/>
          </a:ln>
        </p:spPr>
      </p:sp>
      <p:sp>
        <p:nvSpPr>
          <p:cNvPr id="19" name="Shape 17"/>
          <p:cNvSpPr/>
          <p:nvPr/>
        </p:nvSpPr>
        <p:spPr bwMode="auto">
          <a:xfrm>
            <a:off x="10241280" y="16916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 bwMode="auto">
          <a:xfrm>
            <a:off x="10241280" y="1691640"/>
            <a:ext cx="1691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Append</a:t>
            </a:r>
            <a:endParaRPr lang="en-US" sz="1250"/>
          </a:p>
          <a:p>
            <a:pPr marL="0" indent="0" algn="ctr">
              <a:buNone/>
              <a:defRPr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Disclaimer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 bwMode="auto">
          <a:xfrm>
            <a:off x="548640" y="3063240"/>
            <a:ext cx="5577840" cy="3200400"/>
          </a:xfrm>
          <a:prstGeom prst="roundRect">
            <a:avLst>
              <a:gd name="adj" fmla="val 2000"/>
            </a:avLst>
          </a:prstGeom>
          <a:solidFill>
            <a:srgbClr val="F4F7FE"/>
          </a:solidFill>
          <a:ln/>
        </p:spPr>
      </p:sp>
      <p:sp>
        <p:nvSpPr>
          <p:cNvPr id="22" name="Text 20"/>
          <p:cNvSpPr/>
          <p:nvPr/>
        </p:nvSpPr>
        <p:spPr bwMode="auto">
          <a:xfrm>
            <a:off x="82296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Why Crisis Pre-Check Is Step 1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 bwMode="auto">
          <a:xfrm>
            <a:off x="822960" y="37033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300" b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Latency — </a:t>
            </a: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 user in distress gets resources in milliseconds, no model round-trip.</a:t>
            </a:r>
            <a:b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Cost — </a:t>
            </a: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neither the ML model nor Gemini is invoked for crisis-flagged input.</a:t>
            </a:r>
            <a:b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</a:br>
            <a:r>
              <a:rPr lang="en-US" sz="1300" b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Safety — </a:t>
            </a: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avoids any chance the LLM responds educationally to a crisis instead of directing to human support.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 bwMode="auto">
          <a:xfrm>
            <a:off x="6355080" y="3063240"/>
            <a:ext cx="5285232" cy="32004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 bwMode="auto">
          <a:xfrm>
            <a:off x="6629400" y="3291840"/>
            <a:ext cx="502920" cy="502920"/>
          </a:xfrm>
          <a:prstGeom prst="ellipse">
            <a:avLst/>
          </a:prstGeom>
          <a:solidFill>
            <a:srgbClr val="2A3777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750101" y="3412541"/>
            <a:ext cx="261518" cy="26151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 bwMode="auto">
          <a:xfrm>
            <a:off x="7315200" y="33375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"notumor" ≠ "Healthy"</a:t>
            </a:r>
            <a:endParaRPr lang="en-US" sz="1600"/>
          </a:p>
        </p:txBody>
      </p:sp>
      <p:sp>
        <p:nvSpPr>
          <p:cNvPr id="28" name="Text 25"/>
          <p:cNvSpPr/>
          <p:nvPr/>
        </p:nvSpPr>
        <p:spPr bwMode="auto">
          <a:xfrm>
            <a:off x="6629400" y="3931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highest-priority safety rule. "notumor" means the model didn't detect the four trained tumor patterns — not that the brain is healthy or needs no further evaluation.</a:t>
            </a:r>
            <a:endParaRPr lang="en-US" sz="1200"/>
          </a:p>
        </p:txBody>
      </p:sp>
      <p:sp>
        <p:nvSpPr>
          <p:cNvPr id="29" name="Text 26"/>
          <p:cNvSpPr/>
          <p:nvPr/>
        </p:nvSpPr>
        <p:spPr bwMode="auto">
          <a:xfrm>
            <a:off x="6629400" y="4892039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Under no circumstances do user-facing responses use "healthy", "normal", or "clear" in reference to a notumor prediction — enforced by post-LLM regex.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API Design &amp; Service Integration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 bwMode="auto"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Three independently deployable services communicate exclusively via well-defined HTTP contracts.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 bwMode="auto">
          <a:xfrm>
            <a:off x="548640" y="1691640"/>
            <a:ext cx="3611880" cy="2468880"/>
          </a:xfrm>
          <a:prstGeom prst="roundRect">
            <a:avLst>
              <a:gd name="adj" fmla="val 259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 bwMode="auto">
          <a:xfrm>
            <a:off x="77724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97941" y="2040941"/>
            <a:ext cx="261518" cy="26151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 bwMode="auto">
          <a:xfrm>
            <a:off x="141732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THMS API</a:t>
            </a:r>
            <a:endParaRPr lang="en-US" sz="1500"/>
          </a:p>
        </p:txBody>
      </p:sp>
      <p:sp>
        <p:nvSpPr>
          <p:cNvPr id="9" name="Text 5"/>
          <p:cNvSpPr/>
          <p:nvPr/>
        </p:nvSpPr>
        <p:spPr bwMode="auto">
          <a:xfrm>
            <a:off x="1417320" y="2212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ASP.NET Core • Port —</a:t>
            </a:r>
            <a:endParaRPr lang="en-US" sz="1000"/>
          </a:p>
        </p:txBody>
      </p:sp>
      <p:sp>
        <p:nvSpPr>
          <p:cNvPr id="10" name="Text 6"/>
          <p:cNvSpPr/>
          <p:nvPr/>
        </p:nvSpPr>
        <p:spPr bwMode="auto">
          <a:xfrm>
            <a:off x="777240" y="26974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RESTful, versioned (/api/v1/), JSON, RFC 7807 errors. 60+ endpoints across 15 modules.</a:t>
            </a:r>
            <a:endParaRPr lang="en-US" sz="1150"/>
          </a:p>
        </p:txBody>
      </p:sp>
      <p:sp>
        <p:nvSpPr>
          <p:cNvPr id="11" name="Shape 7"/>
          <p:cNvSpPr/>
          <p:nvPr/>
        </p:nvSpPr>
        <p:spPr bwMode="auto">
          <a:xfrm>
            <a:off x="4434840" y="1691640"/>
            <a:ext cx="3611880" cy="2468880"/>
          </a:xfrm>
          <a:prstGeom prst="roundRect">
            <a:avLst>
              <a:gd name="adj" fmla="val 2593"/>
            </a:avLst>
          </a:prstGeom>
          <a:solidFill>
            <a:srgbClr val="6471B3"/>
          </a:solidFill>
          <a:ln/>
        </p:spPr>
      </p:sp>
      <p:sp>
        <p:nvSpPr>
          <p:cNvPr id="12" name="Shape 8"/>
          <p:cNvSpPr/>
          <p:nvPr/>
        </p:nvSpPr>
        <p:spPr bwMode="auto">
          <a:xfrm>
            <a:off x="466344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784141" y="2040941"/>
            <a:ext cx="261518" cy="261518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709160" y="196596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 bwMode="auto">
          <a:xfrm>
            <a:off x="530352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MRI Classifier</a:t>
            </a:r>
            <a:endParaRPr lang="en-US" sz="1500"/>
          </a:p>
        </p:txBody>
      </p:sp>
      <p:sp>
        <p:nvSpPr>
          <p:cNvPr id="16" name="Text 10"/>
          <p:cNvSpPr/>
          <p:nvPr/>
        </p:nvSpPr>
        <p:spPr bwMode="auto">
          <a:xfrm>
            <a:off x="5303520" y="2212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FastAPI • Port 8000</a:t>
            </a:r>
            <a:endParaRPr lang="en-US" sz="1000"/>
          </a:p>
        </p:txBody>
      </p:sp>
      <p:sp>
        <p:nvSpPr>
          <p:cNvPr id="17" name="Text 11"/>
          <p:cNvSpPr/>
          <p:nvPr/>
        </p:nvSpPr>
        <p:spPr bwMode="auto">
          <a:xfrm>
            <a:off x="4663440" y="26974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 /predict — multipart image upload, returns class probabilities for 4 tumor types.</a:t>
            </a:r>
            <a:endParaRPr lang="en-US" sz="1150"/>
          </a:p>
        </p:txBody>
      </p:sp>
      <p:sp>
        <p:nvSpPr>
          <p:cNvPr id="18" name="Shape 12"/>
          <p:cNvSpPr/>
          <p:nvPr/>
        </p:nvSpPr>
        <p:spPr bwMode="auto">
          <a:xfrm>
            <a:off x="8321039" y="1691640"/>
            <a:ext cx="3611880" cy="2468880"/>
          </a:xfrm>
          <a:prstGeom prst="roundRect">
            <a:avLst>
              <a:gd name="adj" fmla="val 2593"/>
            </a:avLst>
          </a:prstGeom>
          <a:solidFill>
            <a:srgbClr val="02C39A"/>
          </a:solidFill>
          <a:ln/>
        </p:spPr>
      </p:sp>
      <p:sp>
        <p:nvSpPr>
          <p:cNvPr id="19" name="Shape 13"/>
          <p:cNvSpPr/>
          <p:nvPr/>
        </p:nvSpPr>
        <p:spPr bwMode="auto">
          <a:xfrm>
            <a:off x="854964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8670341" y="2040941"/>
            <a:ext cx="261518" cy="261518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8595360" y="196596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 bwMode="auto">
          <a:xfrm>
            <a:off x="918972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Chatbot</a:t>
            </a:r>
            <a:endParaRPr lang="en-US" sz="1500"/>
          </a:p>
        </p:txBody>
      </p:sp>
      <p:sp>
        <p:nvSpPr>
          <p:cNvPr id="23" name="Text 15"/>
          <p:cNvSpPr/>
          <p:nvPr/>
        </p:nvSpPr>
        <p:spPr bwMode="auto">
          <a:xfrm>
            <a:off x="9189720" y="2212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FastAPI • Port 8001</a:t>
            </a:r>
            <a:endParaRPr lang="en-US" sz="1000"/>
          </a:p>
        </p:txBody>
      </p:sp>
      <p:sp>
        <p:nvSpPr>
          <p:cNvPr id="24" name="Text 16"/>
          <p:cNvSpPr/>
          <p:nvPr/>
        </p:nvSpPr>
        <p:spPr bwMode="auto">
          <a:xfrm>
            <a:off x="8549640" y="26974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 /chat — calls Gemini LLM + classifier; stateless, no PHI storage.</a:t>
            </a:r>
            <a:endParaRPr lang="en-US" sz="1150"/>
          </a:p>
        </p:txBody>
      </p:sp>
      <p:sp>
        <p:nvSpPr>
          <p:cNvPr id="25" name="Text 17"/>
          <p:cNvSpPr/>
          <p:nvPr/>
        </p:nvSpPr>
        <p:spPr bwMode="auto"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API Design Principles</a:t>
            </a:r>
            <a:endParaRPr lang="en-US" sz="1600"/>
          </a:p>
        </p:txBody>
      </p:sp>
      <p:sp>
        <p:nvSpPr>
          <p:cNvPr id="26" name="Text 18"/>
          <p:cNvSpPr/>
          <p:nvPr/>
        </p:nvSpPr>
        <p:spPr bwMode="auto">
          <a:xfrm>
            <a:off x="548640" y="4846320"/>
            <a:ext cx="5669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Resource-oriented, noun-based URL paths; semantic HTTP methods (GET/POST/PUT/PATCH/DELETE)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URL path versioning (/api/v1/); all responses JSON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RFC 7807 Problem Details for standardized error responses</a:t>
            </a:r>
            <a:endParaRPr lang="en-US" sz="1200"/>
          </a:p>
          <a:p>
            <a:pPr marL="342900" indent="-342900">
              <a:spcAft>
                <a:spcPts val="5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Fully documented via OpenAPI / Swagger</a:t>
            </a:r>
            <a:endParaRPr lang="en-US" sz="1200"/>
          </a:p>
        </p:txBody>
      </p:sp>
      <p:sp>
        <p:nvSpPr>
          <p:cNvPr id="27" name="Shape 19"/>
          <p:cNvSpPr/>
          <p:nvPr/>
        </p:nvSpPr>
        <p:spPr bwMode="auto">
          <a:xfrm>
            <a:off x="6400800" y="4434840"/>
            <a:ext cx="5239512" cy="2148840"/>
          </a:xfrm>
          <a:prstGeom prst="roundRect">
            <a:avLst>
              <a:gd name="adj" fmla="val 2979"/>
            </a:avLst>
          </a:prstGeom>
          <a:solidFill>
            <a:srgbClr val="F4F7FE"/>
          </a:solidFill>
          <a:ln/>
        </p:spPr>
      </p:sp>
      <p:sp>
        <p:nvSpPr>
          <p:cNvPr id="28" name="Text 20"/>
          <p:cNvSpPr/>
          <p:nvPr/>
        </p:nvSpPr>
        <p:spPr bwMode="auto">
          <a:xfrm>
            <a:off x="662940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Example: AI Diagnosis Flow</a:t>
            </a:r>
            <a:endParaRPr lang="en-US" sz="1400"/>
          </a:p>
        </p:txBody>
      </p:sp>
      <p:sp>
        <p:nvSpPr>
          <p:cNvPr id="29" name="Text 21"/>
          <p:cNvSpPr/>
          <p:nvPr/>
        </p:nvSpPr>
        <p:spPr bwMode="auto">
          <a:xfrm>
            <a:off x="6629400" y="49834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50" b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1.  </a:t>
            </a: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Patient uploads MRI via THMS</a:t>
            </a:r>
            <a:b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</a:br>
            <a:r>
              <a:rPr lang="en-US" sz="1150" b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2.  </a:t>
            </a: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THMS forwards to /predict (MRI Classifier)</a:t>
            </a:r>
            <a:b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</a:br>
            <a:r>
              <a:rPr lang="en-US" sz="1150" b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3.  </a:t>
            </a: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Result + </a:t>
            </a:r>
            <a:r>
              <a:rPr lang="en-US" sz="1150" b="0" i="0" u="none" strike="noStrike" cap="none" spc="0">
                <a:solidFill>
                  <a:srgbClr val="5B6B8C"/>
                </a:solidFill>
                <a:latin typeface="Calibri"/>
                <a:cs typeface="Calibri"/>
              </a:rPr>
              <a:t>probabilities</a:t>
            </a:r>
            <a:b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</a:br>
            <a:r>
              <a:rPr lang="en-US" sz="1150" b="1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4.  </a:t>
            </a: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Stored in </a:t>
            </a:r>
            <a:r>
              <a:rPr lang="en-US" sz="1150" b="0" i="0" u="none" strike="noStrike" cap="none" spc="0">
                <a:solidFill>
                  <a:srgbClr val="5B6B8C"/>
                </a:solidFill>
                <a:latin typeface="Calibri"/>
                <a:cs typeface="Calibri"/>
              </a:rPr>
              <a:t>Diagnostic</a:t>
            </a: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 table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2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Project Timeline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 bwMode="auto"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Eight-month execution across five major phases (October – May).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 bwMode="auto">
          <a:xfrm>
            <a:off x="2743200" y="2057400"/>
            <a:ext cx="0" cy="4572000"/>
          </a:xfrm>
          <a:prstGeom prst="line">
            <a:avLst/>
          </a:prstGeom>
          <a:noFill/>
          <a:ln w="38100">
            <a:solidFill>
              <a:srgbClr val="4F5C9E"/>
            </a:solidFill>
            <a:prstDash val="solid"/>
          </a:ln>
        </p:spPr>
      </p:sp>
      <p:sp>
        <p:nvSpPr>
          <p:cNvPr id="5" name="Shape 3"/>
          <p:cNvSpPr/>
          <p:nvPr/>
        </p:nvSpPr>
        <p:spPr bwMode="auto">
          <a:xfrm>
            <a:off x="2624328" y="1938528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 bwMode="auto">
          <a:xfrm>
            <a:off x="5486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Oct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 bwMode="auto">
          <a:xfrm>
            <a:off x="3108960" y="1783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Requirements &amp; Analysis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 bwMode="auto">
          <a:xfrm>
            <a:off x="2624328" y="2852928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 bwMode="auto">
          <a:xfrm>
            <a:off x="54864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Nov–Dec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 bwMode="auto">
          <a:xfrm>
            <a:off x="3108960" y="2697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Design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 bwMode="auto">
          <a:xfrm>
            <a:off x="2624328" y="3767328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 bwMode="auto">
          <a:xfrm>
            <a:off x="54864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Dec–Feb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 bwMode="auto">
          <a:xfrm>
            <a:off x="3108960" y="3611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Backend Development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 bwMode="auto">
          <a:xfrm>
            <a:off x="2624328" y="4681728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 bwMode="auto">
          <a:xfrm>
            <a:off x="54864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Mar–Apr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 bwMode="auto">
          <a:xfrm>
            <a:off x="3108960" y="4526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Integration &amp; Testing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 bwMode="auto">
          <a:xfrm>
            <a:off x="2624328" y="5596128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 bwMode="auto">
          <a:xfrm>
            <a:off x="548640" y="5486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May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 bwMode="auto">
          <a:xfrm>
            <a:off x="3108960" y="5440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Documentation &amp; Submission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 bwMode="auto">
          <a:xfrm>
            <a:off x="7315200" y="1828800"/>
            <a:ext cx="4297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 bwMode="auto">
          <a:xfrm>
            <a:off x="7635240" y="21031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55941" y="2223821"/>
            <a:ext cx="261518" cy="26151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 bwMode="auto">
          <a:xfrm>
            <a:off x="8275320" y="2148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Parallel Track: AI Subsystem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 bwMode="auto">
          <a:xfrm>
            <a:off x="7635240" y="27889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MRI classifier training (7,200 images, EfficientNet-B0) developed and evaluated independently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Chatbot corpus authored (38 pages) and safety contract designed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Independent eval: automated gate tests + 25-prompt manual evaluation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Future Enhancements</a:t>
            </a:r>
            <a:endParaRPr lang="en-US" sz="3200"/>
          </a:p>
        </p:txBody>
      </p:sp>
      <p:sp>
        <p:nvSpPr>
          <p:cNvPr id="3" name="Text 1"/>
          <p:cNvSpPr/>
          <p:nvPr/>
        </p:nvSpPr>
        <p:spPr bwMode="auto"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THMS is designed as a foundation for a production-ready platform.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 bwMode="auto">
          <a:xfrm>
            <a:off x="548640" y="169164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/>
        </p:spPr>
      </p:sp>
      <p:sp>
        <p:nvSpPr>
          <p:cNvPr id="5" name="Shape 3"/>
          <p:cNvSpPr/>
          <p:nvPr/>
        </p:nvSpPr>
        <p:spPr bwMode="auto">
          <a:xfrm>
            <a:off x="777240" y="1920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 bwMode="auto"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 bwMode="auto">
          <a:xfrm>
            <a:off x="1325880" y="1947671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Mobile Applications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 bwMode="auto">
          <a:xfrm>
            <a:off x="777240" y="256032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Cross-platform app via .NET MAUI / React Native, leveraging the existing REST API.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 bwMode="auto">
          <a:xfrm>
            <a:off x="4389120" y="169164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/>
        </p:spPr>
      </p:sp>
      <p:sp>
        <p:nvSpPr>
          <p:cNvPr id="10" name="Shape 8"/>
          <p:cNvSpPr/>
          <p:nvPr/>
        </p:nvSpPr>
        <p:spPr bwMode="auto">
          <a:xfrm>
            <a:off x="4617720" y="1920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 bwMode="auto">
          <a:xfrm>
            <a:off x="46177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 bwMode="auto">
          <a:xfrm>
            <a:off x="5166360" y="1947671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AI-Powered Clinical Decision Support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 bwMode="auto">
          <a:xfrm>
            <a:off x="4617720" y="256032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On-platform CNN pipeline for tumor classification from uploaded imaging.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 bwMode="auto">
          <a:xfrm>
            <a:off x="8229600" y="169164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/>
        </p:spPr>
      </p:sp>
      <p:sp>
        <p:nvSpPr>
          <p:cNvPr id="15" name="Shape 13"/>
          <p:cNvSpPr/>
          <p:nvPr/>
        </p:nvSpPr>
        <p:spPr bwMode="auto">
          <a:xfrm>
            <a:off x="8458200" y="1920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 bwMode="auto">
          <a:xfrm>
            <a:off x="845820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 bwMode="auto">
          <a:xfrm>
            <a:off x="9006840" y="1947671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Advanced Analytics Dashboard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 bwMode="auto">
          <a:xfrm>
            <a:off x="8458200" y="256032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Appointment, revenue, doctor performance, and donation analytics.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 bwMode="auto">
          <a:xfrm>
            <a:off x="548640" y="397764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/>
        </p:spPr>
      </p:sp>
      <p:sp>
        <p:nvSpPr>
          <p:cNvPr id="20" name="Shape 18"/>
          <p:cNvSpPr/>
          <p:nvPr/>
        </p:nvSpPr>
        <p:spPr bwMode="auto">
          <a:xfrm>
            <a:off x="777240" y="4206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 bwMode="auto">
          <a:xfrm>
            <a:off x="77724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 bwMode="auto">
          <a:xfrm>
            <a:off x="1325880" y="423367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Pharmacy &amp; Lab Integration</a:t>
            </a:r>
            <a:endParaRPr lang="en-US" sz="1350"/>
          </a:p>
        </p:txBody>
      </p:sp>
      <p:sp>
        <p:nvSpPr>
          <p:cNvPr id="23" name="Text 21"/>
          <p:cNvSpPr/>
          <p:nvPr/>
        </p:nvSpPr>
        <p:spPr bwMode="auto">
          <a:xfrm>
            <a:off x="777240" y="484632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Electronic prescription transmission and LIS result flow-back.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 bwMode="auto">
          <a:xfrm>
            <a:off x="4389120" y="397764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/>
        </p:spPr>
      </p:sp>
      <p:sp>
        <p:nvSpPr>
          <p:cNvPr id="25" name="Shape 23"/>
          <p:cNvSpPr/>
          <p:nvPr/>
        </p:nvSpPr>
        <p:spPr bwMode="auto">
          <a:xfrm>
            <a:off x="4617720" y="4206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 bwMode="auto">
          <a:xfrm>
            <a:off x="461772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 bwMode="auto">
          <a:xfrm>
            <a:off x="5166360" y="423367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Insurance &amp; Payer Integration</a:t>
            </a:r>
            <a:endParaRPr lang="en-US" sz="1350"/>
          </a:p>
        </p:txBody>
      </p:sp>
      <p:sp>
        <p:nvSpPr>
          <p:cNvPr id="28" name="Text 26"/>
          <p:cNvSpPr/>
          <p:nvPr/>
        </p:nvSpPr>
        <p:spPr bwMode="auto">
          <a:xfrm>
            <a:off x="4617720" y="484632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Automated pre-authorization and claims management workflows.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 bwMode="auto">
          <a:xfrm>
            <a:off x="8229600" y="397764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7FE"/>
          </a:solidFill>
          <a:ln/>
        </p:spPr>
      </p:sp>
      <p:sp>
        <p:nvSpPr>
          <p:cNvPr id="30" name="Shape 28"/>
          <p:cNvSpPr/>
          <p:nvPr/>
        </p:nvSpPr>
        <p:spPr bwMode="auto">
          <a:xfrm>
            <a:off x="8458200" y="4206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 bwMode="auto">
          <a:xfrm>
            <a:off x="84582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 bwMode="auto">
          <a:xfrm>
            <a:off x="9006840" y="423367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Microservices Migration</a:t>
            </a:r>
            <a:endParaRPr lang="en-US" sz="1350"/>
          </a:p>
        </p:txBody>
      </p:sp>
      <p:sp>
        <p:nvSpPr>
          <p:cNvPr id="33" name="Text 31"/>
          <p:cNvSpPr/>
          <p:nvPr/>
        </p:nvSpPr>
        <p:spPr bwMode="auto">
          <a:xfrm>
            <a:off x="8458200" y="484632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Extract AuthService, AppointmentService, BillingService, etc., behind an API Gateway.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4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-2286000" y="-2286000"/>
            <a:ext cx="5486400" cy="5486400"/>
          </a:xfrm>
          <a:prstGeom prst="ellipse">
            <a:avLst/>
          </a:prstGeom>
          <a:solidFill>
            <a:srgbClr val="2A3777"/>
          </a:solidFill>
          <a:ln/>
        </p:spPr>
      </p:sp>
      <p:sp>
        <p:nvSpPr>
          <p:cNvPr id="3" name="Shape 1"/>
          <p:cNvSpPr/>
          <p:nvPr/>
        </p:nvSpPr>
        <p:spPr bwMode="auto">
          <a:xfrm>
            <a:off x="9144000" y="3657600"/>
            <a:ext cx="5486400" cy="5486400"/>
          </a:xfrm>
          <a:prstGeom prst="ellipse">
            <a:avLst/>
          </a:prstGeom>
          <a:solidFill>
            <a:srgbClr val="2A3777"/>
          </a:solidFill>
          <a:ln/>
        </p:spPr>
      </p:sp>
      <p:sp>
        <p:nvSpPr>
          <p:cNvPr id="4" name="Shape 2"/>
          <p:cNvSpPr/>
          <p:nvPr/>
        </p:nvSpPr>
        <p:spPr bwMode="auto">
          <a:xfrm>
            <a:off x="548640" y="54864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46150" y="746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54864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Conclusion</a:t>
            </a:r>
            <a:endParaRPr lang="en-US" sz="3800"/>
          </a:p>
        </p:txBody>
      </p:sp>
      <p:sp>
        <p:nvSpPr>
          <p:cNvPr id="7" name="Text 4"/>
          <p:cNvSpPr/>
          <p:nvPr/>
        </p:nvSpPr>
        <p:spPr bwMode="auto">
          <a:xfrm>
            <a:off x="548640" y="237744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THMS integrates enterprise hospital management with a purpose-built AI subsystem — a comprehensive, academically rigorous, and production-oriented graduation project.</a:t>
            </a:r>
            <a:endParaRPr lang="en-US" sz="1500"/>
          </a:p>
        </p:txBody>
      </p:sp>
      <p:sp>
        <p:nvSpPr>
          <p:cNvPr id="8" name="Shape 5"/>
          <p:cNvSpPr/>
          <p:nvPr/>
        </p:nvSpPr>
        <p:spPr bwMode="auto">
          <a:xfrm>
            <a:off x="548640" y="3931920"/>
            <a:ext cx="26974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 bwMode="auto">
          <a:xfrm>
            <a:off x="548640" y="4069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15</a:t>
            </a:r>
            <a:endParaRPr lang="en-US" sz="3200"/>
          </a:p>
        </p:txBody>
      </p:sp>
      <p:sp>
        <p:nvSpPr>
          <p:cNvPr id="10" name="Text 7"/>
          <p:cNvSpPr/>
          <p:nvPr/>
        </p:nvSpPr>
        <p:spPr bwMode="auto">
          <a:xfrm>
            <a:off x="685800" y="48463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Hospital Modules</a:t>
            </a:r>
            <a:endParaRPr lang="en-US" sz="1150"/>
          </a:p>
        </p:txBody>
      </p:sp>
      <p:sp>
        <p:nvSpPr>
          <p:cNvPr id="11" name="Shape 8"/>
          <p:cNvSpPr/>
          <p:nvPr/>
        </p:nvSpPr>
        <p:spPr bwMode="auto">
          <a:xfrm>
            <a:off x="3474720" y="3931920"/>
            <a:ext cx="26974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 bwMode="auto">
          <a:xfrm>
            <a:off x="3474720" y="4069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60+</a:t>
            </a:r>
            <a:endParaRPr lang="en-US" sz="3200"/>
          </a:p>
        </p:txBody>
      </p:sp>
      <p:sp>
        <p:nvSpPr>
          <p:cNvPr id="13" name="Text 10"/>
          <p:cNvSpPr/>
          <p:nvPr/>
        </p:nvSpPr>
        <p:spPr bwMode="auto">
          <a:xfrm>
            <a:off x="3611880" y="48463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API Endpoints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 bwMode="auto">
          <a:xfrm>
            <a:off x="6400800" y="3931920"/>
            <a:ext cx="26974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 bwMode="auto">
          <a:xfrm>
            <a:off x="6400800" y="4069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94.8%</a:t>
            </a:r>
            <a:endParaRPr lang="en-US" sz="3200"/>
          </a:p>
        </p:txBody>
      </p:sp>
      <p:sp>
        <p:nvSpPr>
          <p:cNvPr id="16" name="Text 13"/>
          <p:cNvSpPr/>
          <p:nvPr/>
        </p:nvSpPr>
        <p:spPr bwMode="auto">
          <a:xfrm>
            <a:off x="6537960" y="48463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MRI Classification Accuracy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 bwMode="auto">
          <a:xfrm>
            <a:off x="9326880" y="3931920"/>
            <a:ext cx="269748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 bwMode="auto">
          <a:xfrm>
            <a:off x="9326880" y="4069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38</a:t>
            </a:r>
            <a:endParaRPr lang="en-US" sz="3200"/>
          </a:p>
        </p:txBody>
      </p:sp>
      <p:sp>
        <p:nvSpPr>
          <p:cNvPr id="19" name="Text 16"/>
          <p:cNvSpPr/>
          <p:nvPr/>
        </p:nvSpPr>
        <p:spPr bwMode="auto">
          <a:xfrm>
            <a:off x="9464040" y="48463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5B6B8C"/>
                </a:solidFill>
                <a:latin typeface="Calibri"/>
                <a:ea typeface="Calibri"/>
                <a:cs typeface="Calibri"/>
              </a:rPr>
              <a:t>Page Educational Corpus</a:t>
            </a:r>
            <a:endParaRPr lang="en-US" sz="1150"/>
          </a:p>
        </p:txBody>
      </p:sp>
      <p:sp>
        <p:nvSpPr>
          <p:cNvPr id="20" name="Text 17"/>
          <p:cNvSpPr/>
          <p:nvPr/>
        </p:nvSpPr>
        <p:spPr bwMode="auto"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C9BC9"/>
                </a:solidFill>
                <a:latin typeface="Calibri"/>
                <a:ea typeface="Calibri"/>
                <a:cs typeface="Calibri"/>
              </a:rPr>
              <a:t>Supervised by Dr. Helal Ahmed Suleiman  •  Department of Information Systems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onlyoffice/7.3.3.49</Application>
  <DocSecurity>0</DocSecurity>
  <PresentationFormat>On-screen Show (16:9)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>PptxGenJS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Tumor Hospital Management System</dc:title>
  <dc:subject>PptxGenJS Presentation</dc:subject>
  <dc:creator>THMS Graduation Project</dc:creator>
  <cp:keywords/>
  <dc:description/>
  <dc:identifier/>
  <dc:language/>
  <cp:lastModifiedBy>Guset_836</cp:lastModifiedBy>
  <cp:revision>3</cp:revision>
  <dcterms:created xsi:type="dcterms:W3CDTF">2026-06-12T13:34:09Z</dcterms:created>
  <dcterms:modified xsi:type="dcterms:W3CDTF">2026-06-13T00:13:09Z</dcterms:modified>
  <cp:category/>
  <cp:contentStatus/>
  <cp:version/>
</cp:coreProperties>
</file>